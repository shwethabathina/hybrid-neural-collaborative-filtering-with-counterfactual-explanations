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550 · MASSIVE DATA MINING AND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Neural Collaborative Filtering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</a:t>
            </a:r>
            <a:pPr indent="0" marL="0">
              <a:buNone/>
            </a:pPr>
            <a:r>
              <a:rPr lang="en-US" sz="4400" i="1" dirty="0">
                <a:solidFill>
                  <a:srgbClr val="F25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Counterfactual Explanations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1188720" cy="4572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51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explainable deep-learning recommender trained on MovieLens 1M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Prithvi Govindareddy (pg708) · Shweatha Bathina Mallikarjuna (sb2808) · Chiranjeevi Bhuvaneshwari Pamarthy (cp1270) · Rutgers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37160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Accurate recommendations aren’t enough.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recommender systems are expected to be trustworthy: users and regulators want to know why a particular item was recommended, and what would change if the system's inputs were different.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3657600" cy="246888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383280"/>
            <a:ext cx="3657600" cy="73152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6576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alone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4800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CF and MF optimize MAE / RMSE, but offer no explanation for each recommendation.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0" y="3383280"/>
            <a:ext cx="3657600" cy="246888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383280"/>
            <a:ext cx="3657600" cy="73152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6576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Opaque neural models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46320" y="4800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NCF-style models replace the inner product with an MLP — gaining expressivity, losing transparency.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412480" y="3383280"/>
            <a:ext cx="3657600" cy="246888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3383280"/>
            <a:ext cx="3657600" cy="73152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65760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Trustworthiness gap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686800" y="4800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ask two questions: 'why this?' and 'what would you show if my history were different?'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37160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Hybrid-NCF + Counterfactual Explanations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212080" cy="3931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Hybrid-NCF model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GMF + MLP branches combined with a content-based genre tower. Trained in two variants: MSE for rating prediction, BPR for top-N ranking. Same architecture, loss matched to task.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explainer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Perturbs the user embedding by subtracting a candidate cause item's embedding; quantifies the score drop Δ. Alternative recommendations are produced by ablating the top-3 causes simultaneously.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212080" cy="393192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560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design</a:t>
            </a:r>
            <a:endParaRPr lang="en-US" sz="2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32461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12280" y="3200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model, two tasks.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12280" y="349300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regression naturally extends to top-N via ranking by predicted rating.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959352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12280" y="39136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fills in the gaps.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812280" y="42062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genre tower gives a signal even when collaborative data is sparse.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67258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462686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Counterfactual ≠ correlation.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812280" y="491947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what if the history were different, not just what similar users liked.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385816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534009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re-training per query.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812280" y="563270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perturbation makes each explanation one extra forward pass.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37160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branches, one head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(u)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 (i)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9377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937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genre_vec (gᵢ)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286000"/>
            <a:ext cx="25603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359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GMF branch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6791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pᵤ ⊙ qᵢ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3566160"/>
            <a:ext cx="25603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639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MLP branch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9593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MLP([p'ᵤ ‖ q'ᵢ])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4846320"/>
            <a:ext cx="25603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49194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tower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5239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GenreMLP(gᵢ)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2697480"/>
            <a:ext cx="7315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60320" y="3977640"/>
            <a:ext cx="7315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560320" y="5257800"/>
            <a:ext cx="7315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66560" y="3474720"/>
            <a:ext cx="2286000" cy="100584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Concat + Head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6656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ReLU → Linear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2697480"/>
            <a:ext cx="914400" cy="10515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52160" y="3977640"/>
            <a:ext cx="9144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852160" y="5257800"/>
            <a:ext cx="914400" cy="-10515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92640" y="36118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8F7F3"/>
          </a:solidFill>
          <a:ln w="25400">
            <a:solidFill>
              <a:srgbClr val="F25C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3611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r̂ᵤᵢ ∈ [1,5]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52560" y="3977640"/>
            <a:ext cx="6400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end-to-end with MSE against observed ratings. Same model powers both rating prediction and ranking.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37160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counterfactual explainer works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5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the target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3957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r̂ᵤₜ for the target item t under the learned user embedding pᵤ.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5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926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Perturb the user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33101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candidate cause c, form p̃ᵤ = pᵤ − α · qc with α = 1/|Hᵤ|.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5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840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the drop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4224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r̂ᵤₜ − r̃ᵤₜ. Large positive Δ ⇒ item c is a cause of the recommendation.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754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5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754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the alternative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51389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 the catalog with the top-3 causes ablated; report the new top-3.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5029200" cy="3931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057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377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Recommending Schindler's List to user #2083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01752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rating: </a:t>
            </a:r>
            <a:pPr indent="0" marL="0">
              <a:buNone/>
            </a:pPr>
            <a:r>
              <a:rPr lang="en-US" sz="12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4.508 /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causes (Δ)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Wizard of Oz (1939)          +0.0023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Fried Green Tomatoes         +0.0006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Something About Mary         +0.0004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ablated, you'd see instead: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Flew Over the Cuckoo's Nest (3.594)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Pulp Fiction (3.581)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 by Me (3.545)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37160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metrics on MovieLens 1M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PREDICTION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2651760" cy="169164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31720"/>
            <a:ext cx="73152" cy="169164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926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0.6835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5156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2331720"/>
            <a:ext cx="2651760" cy="169164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2331720"/>
            <a:ext cx="73152" cy="169164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926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0.8661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840480" y="3657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RECOMMENDATION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526280"/>
            <a:ext cx="2651760" cy="160020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526280"/>
            <a:ext cx="73152" cy="160020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754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5120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0.2589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1051560" y="5760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0440" y="4526280"/>
            <a:ext cx="2651760" cy="160020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4526280"/>
            <a:ext cx="73152" cy="160020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4754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5120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0.1026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3840480" y="5760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4526280"/>
            <a:ext cx="2651760" cy="160020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4526280"/>
            <a:ext cx="73152" cy="160020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4754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F1@10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5120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0.1469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6629400" y="5760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98280" y="4526280"/>
            <a:ext cx="2651760" cy="160020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98280" y="4526280"/>
            <a:ext cx="73152" cy="160020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0" y="4754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18320" y="5120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0.2898</a:t>
            </a:r>
            <a:endParaRPr lang="en-US" sz="4000" dirty="0"/>
          </a:p>
        </p:txBody>
      </p:sp>
      <p:sp>
        <p:nvSpPr>
          <p:cNvPr id="36" name="Text 34"/>
          <p:cNvSpPr/>
          <p:nvPr/>
        </p:nvSpPr>
        <p:spPr>
          <a:xfrm>
            <a:off x="9418320" y="5760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2331720"/>
            <a:ext cx="502920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5120" y="2788920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MAE/RMSE from the MSE-trained variant; P/R/F1/NDCG from the BPR-trained variant. Same architecture, loss function matched to task. The BPR variant beats a popularity baseline by ~45% on NDCG@10.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37160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interactive Streamlit app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tabs: recommendations, why-this counterfactuals, user profile and genre preferences, and aggregate evaluation metrics. Runs locally with the trained checkpoint.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5212080" cy="160020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06324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2918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031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103120" y="3474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list for any user, with hit-rate against their test set.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2743200"/>
            <a:ext cx="5212080" cy="160020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306324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2918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this?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589520" y="3474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causes, alternatives, and genre attribution.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1520" y="4526280"/>
            <a:ext cx="5212080" cy="160020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05840" y="484632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50749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0312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profile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2103120" y="5257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history and learned genre-preference histogram.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17920" y="4526280"/>
            <a:ext cx="5212080" cy="1600200"/>
          </a:xfrm>
          <a:prstGeom prst="rect">
            <a:avLst/>
          </a:prstGeom>
          <a:solidFill>
            <a:srgbClr val="F8F7F3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92240" y="484632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507492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8952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589520" y="5257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aggregate metrics plus the training curve.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37160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could go next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103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Embedding-level counterfactuals are an approximation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88720" y="26060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user embedding is not literally an average of history items. Influence functions or re-training would be more principled but too slow for interactive use.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945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0" y="2103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NDCG only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675120" y="26060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items count equally as relevant. Using rating-weighted NDCG (e.g., only rating ≥ 4 as relevant) would measure surfacing of high-interest items more directly.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233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931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tower only for content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188720" y="4434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text, temporal patterns, and metadata (director, cast) are unused. A transformer over the rating sequence would capture richer dynamics.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0233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75120" y="3931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Single-dataset evaluation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675120" y="4434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on MovieLens 1M only. Generalization to Amazon categories or MovieLens 25M is left for future work.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731520" y="3794760"/>
            <a:ext cx="1188720" cy="45720"/>
          </a:xfrm>
          <a:prstGeom prst="rect">
            <a:avLst/>
          </a:prstGeom>
          <a:solidFill>
            <a:srgbClr val="F25C54"/>
          </a:solidFill>
          <a:ln w="12700">
            <a:solidFill>
              <a:srgbClr val="F25C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977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Prithvi Govindareddy (pg708) · Shweatha Bathina Mallikarjuna (sb2808) · Chiranjeevi Bhuvaneshwari Pamarthy (cp1270) · CS 550 · Rutgers University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NCF with Counterfactual Explanations</dc:title>
  <dc:subject>PptxGenJS Presentation</dc:subject>
  <dc:creator>CS 550 Project</dc:creator>
  <cp:lastModifiedBy>CS 550 Project</cp:lastModifiedBy>
  <cp:revision>1</cp:revision>
  <dcterms:created xsi:type="dcterms:W3CDTF">2026-04-19T00:01:03Z</dcterms:created>
  <dcterms:modified xsi:type="dcterms:W3CDTF">2026-04-19T00:01:03Z</dcterms:modified>
</cp:coreProperties>
</file>